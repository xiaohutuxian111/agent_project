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8"/>
  </p:notesMasterIdLst>
  <p:sldIdLst>
    <p:sldId id="524" r:id="rId2"/>
    <p:sldId id="525" r:id="rId3"/>
    <p:sldId id="306" r:id="rId4"/>
    <p:sldId id="281" r:id="rId5"/>
    <p:sldId id="279" r:id="rId6"/>
    <p:sldId id="510" r:id="rId7"/>
  </p:sldIdLst>
  <p:sldSz cx="9144000" cy="5143500" type="screen16x9"/>
  <p:notesSz cx="6858000" cy="9144000"/>
  <p:embeddedFontLst>
    <p:embeddedFont>
      <p:font typeface="Roboto" panose="020F0502020204030204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5" roundtripDataSignature="AMtx7mhFqMxqfJIu8Fgityv9pSPciEA3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EEB"/>
    <a:srgbClr val="52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0"/>
    <p:restoredTop sz="94606"/>
  </p:normalViewPr>
  <p:slideViewPr>
    <p:cSldViewPr snapToGrid="0">
      <p:cViewPr varScale="1">
        <p:scale>
          <a:sx n="150" d="100"/>
          <a:sy n="150" d="100"/>
        </p:scale>
        <p:origin x="544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7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177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One of the most popular definition of language model agents: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6654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386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Here is an illustration of CAMEL framework: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27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1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1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05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1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8" name="Google Shape;118;p61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6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2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2" name="Google Shape;122;p6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_AND_TWO_COLUMN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4" name="Google Shape;134;p64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5" name="Google Shape;135;p6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5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6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6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6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6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" name="Google Shape;145;p66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6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7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49" name="Google Shape;149;p6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8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8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8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154" name="Google Shape;154;p6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9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69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6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gradFill>
          <a:gsLst>
            <a:gs pos="0">
              <a:srgbClr val="E3E3E3"/>
            </a:gs>
            <a:gs pos="100000">
              <a:srgbClr val="EAE8FF"/>
            </a:gs>
          </a:gsLst>
          <a:lin ang="5400000" scaled="0"/>
        </a:gra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6" name="Google Shape;106;p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www.camel-ai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2303.17760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1776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" y="228765"/>
            <a:ext cx="9143358" cy="514313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 txBox="1">
            <a:spLocks noGrp="1"/>
          </p:cNvSpPr>
          <p:nvPr>
            <p:ph type="ctrTitle"/>
          </p:nvPr>
        </p:nvSpPr>
        <p:spPr>
          <a:xfrm>
            <a:off x="312156" y="641305"/>
            <a:ext cx="6685751" cy="160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91419" rIns="91419" bIns="91419" anchor="b" anchorCtr="0">
            <a:noAutofit/>
          </a:bodyPr>
          <a:lstStyle/>
          <a:p>
            <a:pPr rtl="0">
              <a:buSzPts val="5200"/>
            </a:pPr>
            <a:r>
              <a:rPr lang="en-GB" b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Building the Future of </a:t>
            </a:r>
            <a:r>
              <a:rPr lang="en-GB" b="1" i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Multi-agent Workforce</a:t>
            </a:r>
            <a:endParaRPr b="1" i="1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67" name="Google Shape;167;p1"/>
          <p:cNvSpPr txBox="1">
            <a:spLocks noGrp="1"/>
          </p:cNvSpPr>
          <p:nvPr>
            <p:ph type="subTitle" idx="1"/>
          </p:nvPr>
        </p:nvSpPr>
        <p:spPr>
          <a:xfrm>
            <a:off x="312156" y="2571750"/>
            <a:ext cx="3947229" cy="79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91419" rIns="91419" bIns="91419" anchor="t" anchorCtr="0">
            <a:noAutofit/>
          </a:bodyPr>
          <a:lstStyle/>
          <a:p>
            <a:pPr rtl="0">
              <a:buSzPts val="2800"/>
            </a:pPr>
            <a:r>
              <a:rPr lang="en-GB" sz="2000" dirty="0" err="1">
                <a:solidFill>
                  <a:srgbClr val="1D1D1D"/>
                </a:solidFill>
                <a:latin typeface="Palatino"/>
                <a:ea typeface="Palatino"/>
                <a:cs typeface="Palatino"/>
                <a:sym typeface="Palatino"/>
              </a:rPr>
              <a:t>Wendong</a:t>
            </a:r>
            <a:r>
              <a:rPr lang="en-GB" sz="2000" dirty="0">
                <a:solidFill>
                  <a:srgbClr val="1D1D1D"/>
                </a:solidFill>
                <a:latin typeface="Palatino"/>
                <a:ea typeface="Palatino"/>
                <a:cs typeface="Palatino"/>
                <a:sym typeface="Palatino"/>
              </a:rPr>
              <a:t> Fan</a:t>
            </a:r>
          </a:p>
          <a:p>
            <a:pPr rtl="0">
              <a:buSzPts val="2800"/>
            </a:pPr>
            <a:r>
              <a:rPr lang="en" sz="2000" dirty="0">
                <a:solidFill>
                  <a:srgbClr val="1D1D1D"/>
                </a:solidFill>
                <a:latin typeface="Palatino"/>
                <a:ea typeface="Palatino"/>
                <a:cs typeface="Palatino"/>
                <a:sym typeface="Palatino"/>
              </a:rPr>
              <a:t>Core Member of CAMEL-AI</a:t>
            </a:r>
          </a:p>
        </p:txBody>
      </p:sp>
      <p:sp>
        <p:nvSpPr>
          <p:cNvPr id="168" name="Google Shape;168;p1"/>
          <p:cNvSpPr txBox="1"/>
          <p:nvPr/>
        </p:nvSpPr>
        <p:spPr>
          <a:xfrm>
            <a:off x="312156" y="4266322"/>
            <a:ext cx="1966362" cy="40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91419" rIns="91419" bIns="91419" anchor="t" anchorCtr="0">
            <a:spAutoFit/>
          </a:bodyPr>
          <a:lstStyle/>
          <a:p>
            <a:pPr algn="l" rtl="0">
              <a:buClr>
                <a:srgbClr val="000000"/>
              </a:buClr>
              <a:buSzPts val="2000"/>
            </a:pPr>
            <a:r>
              <a:rPr lang="en" u="sng">
                <a:solidFill>
                  <a:srgbClr val="B6AEFF"/>
                </a:solidFill>
                <a:latin typeface="Palatino"/>
                <a:ea typeface="Palatino"/>
                <a:cs typeface="Palatino"/>
                <a:sym typeface="Palatin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CAMEL-AI.org</a:t>
            </a:r>
            <a:endParaRPr>
              <a:solidFill>
                <a:srgbClr val="B6AE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169" name="Google Shape;16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0590" y="3330898"/>
            <a:ext cx="2055052" cy="227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"/>
          <p:cNvSpPr txBox="1"/>
          <p:nvPr/>
        </p:nvSpPr>
        <p:spPr>
          <a:xfrm>
            <a:off x="7429300" y="471636"/>
            <a:ext cx="184718" cy="52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45697" rIns="91419" bIns="45697" anchor="t" anchorCtr="0">
            <a:spAutoFit/>
          </a:bodyPr>
          <a:lstStyle/>
          <a:p>
            <a:pPr algn="l" rtl="0"/>
            <a:endParaRPr/>
          </a:p>
          <a:p>
            <a:pPr algn="l" rtl="0"/>
            <a:endParaRPr/>
          </a:p>
        </p:txBody>
      </p:sp>
    </p:spTree>
    <p:extLst>
      <p:ext uri="{BB962C8B-B14F-4D97-AF65-F5344CB8AC3E}">
        <p14:creationId xmlns:p14="http://schemas.microsoft.com/office/powerpoint/2010/main" val="3612184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"/>
          <p:cNvSpPr txBox="1"/>
          <p:nvPr/>
        </p:nvSpPr>
        <p:spPr>
          <a:xfrm>
            <a:off x="891377" y="3923635"/>
            <a:ext cx="485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219FF"/>
                </a:solidFill>
                <a:latin typeface="Arial"/>
                <a:ea typeface="Arial"/>
                <a:cs typeface="Arial"/>
                <a:sym typeface="Arial"/>
              </a:rPr>
              <a:t>Lilian Weng: https://lilianweng.github.io/posts/2023-06-23-agent/</a:t>
            </a:r>
            <a:endParaRPr sz="1000" b="0" i="0" u="none" strike="noStrike" cap="none">
              <a:solidFill>
                <a:srgbClr val="5219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916" y="1355519"/>
            <a:ext cx="6131723" cy="2432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 txBox="1"/>
          <p:nvPr/>
        </p:nvSpPr>
        <p:spPr>
          <a:xfrm>
            <a:off x="6829583" y="1774800"/>
            <a:ext cx="2062501" cy="15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Key differences:</a:t>
            </a:r>
            <a:endParaRPr sz="1200" b="0" i="0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Language as </a:t>
            </a:r>
            <a:r>
              <a:rPr lang="en" sz="1200" b="0" i="1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Input</a:t>
            </a:r>
            <a:endParaRPr sz="1200" b="0" i="1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Language as </a:t>
            </a:r>
            <a:r>
              <a:rPr lang="en" sz="1200" b="0" i="1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Output</a:t>
            </a:r>
            <a:endParaRPr sz="1200" b="0" i="1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1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State</a:t>
            </a:r>
            <a:r>
              <a:rPr lang="en" sz="1200" b="0" i="0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 and </a:t>
            </a:r>
            <a:r>
              <a:rPr lang="en" sz="1200" b="0" i="1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Action</a:t>
            </a:r>
            <a:r>
              <a:rPr lang="en" sz="1200" b="0" i="0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 are expressed as natural language</a:t>
            </a:r>
            <a:endParaRPr sz="1200" b="0" i="0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1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Generalizability</a:t>
            </a:r>
            <a:endParaRPr sz="1200" b="0" i="1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….</a:t>
            </a:r>
            <a:endParaRPr sz="1200" b="0" i="0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251916" y="153045"/>
            <a:ext cx="65919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5219FF"/>
                </a:solidFill>
                <a:latin typeface="Palatino"/>
                <a:ea typeface="Palatino"/>
                <a:cs typeface="Palatino"/>
                <a:sym typeface="Palatino"/>
              </a:rPr>
              <a:t>Language Models as Agents</a:t>
            </a:r>
            <a:endParaRPr sz="2800" b="1" i="0" u="none" strike="noStrike" cap="none" dirty="0">
              <a:solidFill>
                <a:srgbClr val="5219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301" name="Google Shape;30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1187" y="306282"/>
            <a:ext cx="1510897" cy="3090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940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"/>
          <p:cNvSpPr txBox="1"/>
          <p:nvPr/>
        </p:nvSpPr>
        <p:spPr>
          <a:xfrm>
            <a:off x="251916" y="155259"/>
            <a:ext cx="65919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Language Models as Agents</a:t>
            </a:r>
            <a:endParaRPr sz="2800" b="1" i="0" u="none" strike="noStrike" cap="none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313" name="Google Shape;31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1187" y="306282"/>
            <a:ext cx="1510897" cy="30904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332;p10">
            <a:extLst>
              <a:ext uri="{FF2B5EF4-FFF2-40B4-BE49-F238E27FC236}">
                <a16:creationId xmlns:a16="http://schemas.microsoft.com/office/drawing/2014/main" id="{A6C81D1F-371A-B14E-82A8-CF7C91F4A8D1}"/>
              </a:ext>
            </a:extLst>
          </p:cNvPr>
          <p:cNvSpPr txBox="1"/>
          <p:nvPr/>
        </p:nvSpPr>
        <p:spPr>
          <a:xfrm>
            <a:off x="5515500" y="1145733"/>
            <a:ext cx="3628500" cy="285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1000"/>
              </a:spcAft>
              <a:buSzPts val="2000"/>
            </a:pPr>
            <a:r>
              <a:rPr lang="en-GB" sz="2000" b="1" dirty="0">
                <a:solidFill>
                  <a:srgbClr val="521AFF"/>
                </a:solidFill>
                <a:latin typeface="Palatino"/>
                <a:ea typeface="Palatino"/>
                <a:sym typeface="Palatino"/>
              </a:rPr>
              <a:t>Key Features:</a:t>
            </a:r>
          </a:p>
          <a:p>
            <a:pPr lvl="0">
              <a:spcAft>
                <a:spcPts val="1000"/>
              </a:spcAft>
              <a:buSzPts val="2000"/>
            </a:pPr>
            <a:r>
              <a:rPr lang="en-GB" sz="2000" i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- </a:t>
            </a:r>
            <a:r>
              <a:rPr lang="en-GB" sz="2000" dirty="0">
                <a:solidFill>
                  <a:srgbClr val="521AFF"/>
                </a:solidFill>
                <a:latin typeface="Palatino"/>
                <a:ea typeface="Palatino"/>
                <a:sym typeface="Palatino"/>
              </a:rPr>
              <a:t>Memory:</a:t>
            </a:r>
            <a:r>
              <a:rPr lang="en-GB" sz="2000" b="1" dirty="0">
                <a:solidFill>
                  <a:srgbClr val="521AFF"/>
                </a:solidFill>
                <a:latin typeface="Palatino"/>
                <a:ea typeface="Palatino"/>
                <a:sym typeface="Palatino"/>
              </a:rPr>
              <a:t> </a:t>
            </a:r>
            <a:r>
              <a:rPr lang="en-GB" sz="2000" i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Manages chat history and context window</a:t>
            </a:r>
          </a:p>
          <a:p>
            <a:pPr lvl="0">
              <a:spcAft>
                <a:spcPts val="1000"/>
              </a:spcAft>
              <a:buSzPts val="2000"/>
            </a:pPr>
            <a:r>
              <a:rPr lang="en-GB" sz="2000" i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- </a:t>
            </a:r>
            <a:r>
              <a:rPr lang="en-GB" sz="2000" dirty="0">
                <a:solidFill>
                  <a:srgbClr val="521AFF"/>
                </a:solidFill>
                <a:latin typeface="Palatino"/>
                <a:ea typeface="Palatino"/>
                <a:sym typeface="Palatino"/>
              </a:rPr>
              <a:t>Tools: </a:t>
            </a:r>
            <a:r>
              <a:rPr lang="en-GB" sz="2000" i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Supports both internal and external function calls</a:t>
            </a:r>
          </a:p>
          <a:p>
            <a:pPr>
              <a:spcAft>
                <a:spcPts val="1000"/>
              </a:spcAft>
              <a:buSzPts val="2000"/>
            </a:pPr>
            <a:r>
              <a:rPr lang="en-GB" sz="2000" i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- </a:t>
            </a:r>
            <a:r>
              <a:rPr lang="en-GB" sz="2000" dirty="0">
                <a:solidFill>
                  <a:srgbClr val="521AFF"/>
                </a:solidFill>
                <a:latin typeface="Palatino"/>
                <a:ea typeface="Palatino"/>
                <a:sym typeface="Palatino"/>
              </a:rPr>
              <a:t>Step Loop: </a:t>
            </a:r>
            <a:r>
              <a:rPr lang="en-GB" sz="2000" i="1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Handle task require multiple request with one step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EE15736-E551-5341-80A1-5F82914DB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43" y="770782"/>
            <a:ext cx="4314916" cy="41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2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2137" y="2179260"/>
            <a:ext cx="4749947" cy="78498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7"/>
          <p:cNvSpPr txBox="1"/>
          <p:nvPr/>
        </p:nvSpPr>
        <p:spPr>
          <a:xfrm>
            <a:off x="5271360" y="2964240"/>
            <a:ext cx="249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Agent Evaluation Results</a:t>
            </a:r>
            <a:endParaRPr sz="1400" b="0" i="0" u="none" strike="noStrike" cap="none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-1735575" y="1924350"/>
            <a:ext cx="4011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251916" y="1581750"/>
            <a:ext cx="3828600" cy="197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b="0" i="0" u="none" strike="noStrike" cap="none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CAMEL agents are better one agent &gt; 70% on 200 tasks</a:t>
            </a:r>
            <a:endParaRPr sz="2000" b="0" i="0" u="none" strike="noStrike" cap="none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b="0" i="0" u="none" strike="noStrike" cap="none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GPT-4 evaluation aligns with Human evaluation</a:t>
            </a:r>
            <a:endParaRPr sz="2000" b="0" i="0" u="none" strike="noStrike" cap="none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251916" y="153045"/>
            <a:ext cx="65919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2800" b="1" i="0" u="none" strike="noStrike" cap="none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More Agents Between than one?</a:t>
            </a:r>
            <a:endParaRPr sz="2800" b="1" i="0" u="none" strike="noStrike" cap="none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361" name="Google Shape;36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1187" y="306282"/>
            <a:ext cx="1510897" cy="3090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37;p38">
            <a:extLst>
              <a:ext uri="{FF2B5EF4-FFF2-40B4-BE49-F238E27FC236}">
                <a16:creationId xmlns:a16="http://schemas.microsoft.com/office/drawing/2014/main" id="{40433781-10F0-634C-9D60-EF4CC7C6771B}"/>
              </a:ext>
            </a:extLst>
          </p:cNvPr>
          <p:cNvSpPr txBox="1"/>
          <p:nvPr/>
        </p:nvSpPr>
        <p:spPr>
          <a:xfrm>
            <a:off x="4090739" y="3364440"/>
            <a:ext cx="4852741" cy="342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algn="ctr"/>
            <a:r>
              <a:rPr lang="en-GB" sz="1000" dirty="0">
                <a:solidFill>
                  <a:srgbClr val="521AFF"/>
                </a:solidFill>
              </a:rPr>
              <a:t>CAMEL (</a:t>
            </a:r>
            <a:r>
              <a:rPr lang="en-GB" sz="1000" dirty="0" err="1">
                <a:solidFill>
                  <a:srgbClr val="521AFF"/>
                </a:solidFill>
              </a:rPr>
              <a:t>NeurIPS</a:t>
            </a:r>
            <a:r>
              <a:rPr lang="en-GB" sz="1000" dirty="0">
                <a:solidFill>
                  <a:srgbClr val="521AFF"/>
                </a:solidFill>
              </a:rPr>
              <a:t> 2023): </a:t>
            </a:r>
            <a:r>
              <a:rPr lang="en-GB" sz="1000" dirty="0">
                <a:solidFill>
                  <a:srgbClr val="521A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https://arxiv.org/abs/2303.17760</a:t>
            </a:r>
            <a:endParaRPr lang="en-GB" sz="1000" dirty="0">
              <a:solidFill>
                <a:srgbClr val="521A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/>
          <p:cNvSpPr txBox="1"/>
          <p:nvPr/>
        </p:nvSpPr>
        <p:spPr>
          <a:xfrm>
            <a:off x="251916" y="1680727"/>
            <a:ext cx="2566200" cy="192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b="0" i="0" u="none" strike="noStrike" cap="none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Idea</a:t>
            </a:r>
            <a:endParaRPr sz="2000" b="0" i="0" u="none" strike="noStrike" cap="none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b="0" i="0" u="none" strike="noStrike" cap="none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Role assignment</a:t>
            </a:r>
            <a:endParaRPr sz="2000" b="0" i="0" u="none" strike="noStrike" cap="none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b="0" i="0" u="none" strike="noStrike" cap="none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Task agents</a:t>
            </a:r>
            <a:endParaRPr sz="2000" b="0" i="0" u="none" strike="noStrike" cap="none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b="0" i="0" u="none" strike="noStrike" cap="none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Chat agents</a:t>
            </a:r>
            <a:endParaRPr sz="2000" b="0" i="0" u="none" strike="noStrike" cap="none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3006906" y="4392290"/>
            <a:ext cx="588517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521AFF"/>
                </a:solidFill>
                <a:latin typeface="Arial"/>
                <a:ea typeface="Arial"/>
                <a:cs typeface="Arial"/>
                <a:sym typeface="Arial"/>
              </a:rPr>
              <a:t>Role-Playing Framework</a:t>
            </a:r>
            <a:endParaRPr sz="1000" b="0" i="0" u="none" strike="noStrike" cap="none" dirty="0">
              <a:solidFill>
                <a:srgbClr val="521A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521AFF"/>
                </a:solidFill>
                <a:latin typeface="Arial"/>
                <a:ea typeface="Arial"/>
                <a:cs typeface="Arial"/>
                <a:sym typeface="Arial"/>
              </a:rPr>
              <a:t>CAMEL (</a:t>
            </a:r>
            <a:r>
              <a:rPr lang="en" sz="1000" b="0" i="0" u="none" strike="noStrike" cap="none" dirty="0" err="1">
                <a:solidFill>
                  <a:srgbClr val="521AFF"/>
                </a:solidFill>
                <a:latin typeface="Arial"/>
                <a:ea typeface="Arial"/>
                <a:cs typeface="Arial"/>
                <a:sym typeface="Arial"/>
              </a:rPr>
              <a:t>NeurIPS</a:t>
            </a:r>
            <a:r>
              <a:rPr lang="en" sz="1000" b="0" i="0" u="none" strike="noStrike" cap="none" dirty="0">
                <a:solidFill>
                  <a:srgbClr val="521AFF"/>
                </a:solidFill>
                <a:latin typeface="Arial"/>
                <a:ea typeface="Arial"/>
                <a:cs typeface="Arial"/>
                <a:sym typeface="Arial"/>
              </a:rPr>
              <a:t> 2023): </a:t>
            </a:r>
            <a:r>
              <a:rPr lang="en" sz="1000" b="0" i="0" u="sng" strike="noStrike" cap="none" dirty="0">
                <a:solidFill>
                  <a:srgbClr val="521A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https://arxiv.org/abs/2303.17760</a:t>
            </a:r>
            <a:endParaRPr sz="1000" b="0" i="0" u="none" strike="noStrike" cap="none" dirty="0">
              <a:solidFill>
                <a:srgbClr val="521A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6906" y="1042266"/>
            <a:ext cx="5885178" cy="335002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 txBox="1"/>
          <p:nvPr/>
        </p:nvSpPr>
        <p:spPr>
          <a:xfrm>
            <a:off x="251916" y="153045"/>
            <a:ext cx="65919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CAMEL</a:t>
            </a:r>
            <a:endParaRPr sz="2800" b="1" i="0" u="none" strike="noStrike" cap="none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343" name="Google Shape;34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1187" y="306282"/>
            <a:ext cx="1510897" cy="309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36;p28">
            <a:extLst>
              <a:ext uri="{FF2B5EF4-FFF2-40B4-BE49-F238E27FC236}">
                <a16:creationId xmlns:a16="http://schemas.microsoft.com/office/drawing/2014/main" id="{8B88FB4B-7852-A64D-A5E5-819936490095}"/>
              </a:ext>
            </a:extLst>
          </p:cNvPr>
          <p:cNvSpPr txBox="1"/>
          <p:nvPr/>
        </p:nvSpPr>
        <p:spPr>
          <a:xfrm>
            <a:off x="474430" y="1538809"/>
            <a:ext cx="2982150" cy="36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27" tIns="29027" rIns="29027" bIns="29027" anchor="t" anchorCtr="0">
            <a:spAutoFit/>
          </a:bodyPr>
          <a:lstStyle/>
          <a:p>
            <a:pPr marL="32255">
              <a:lnSpc>
                <a:spcPct val="130000"/>
              </a:lnSpc>
              <a:buClr>
                <a:schemeClr val="dk1"/>
              </a:buClr>
              <a:buSzPts val="2000"/>
            </a:pPr>
            <a:r>
              <a:rPr lang="en-GB" sz="1524" b="1" dirty="0">
                <a:solidFill>
                  <a:srgbClr val="5219FF"/>
                </a:solidFill>
              </a:rPr>
              <a:t>Workforce</a:t>
            </a:r>
            <a:endParaRPr lang="en-GB" sz="1016" b="1" dirty="0">
              <a:solidFill>
                <a:srgbClr val="5219FF"/>
              </a:solidFill>
            </a:endParaRPr>
          </a:p>
        </p:txBody>
      </p:sp>
      <p:sp>
        <p:nvSpPr>
          <p:cNvPr id="22" name="Google Shape;136;p28">
            <a:extLst>
              <a:ext uri="{FF2B5EF4-FFF2-40B4-BE49-F238E27FC236}">
                <a16:creationId xmlns:a16="http://schemas.microsoft.com/office/drawing/2014/main" id="{A4D1668B-6CC1-4D4F-874A-F47772570FFF}"/>
              </a:ext>
            </a:extLst>
          </p:cNvPr>
          <p:cNvSpPr txBox="1"/>
          <p:nvPr/>
        </p:nvSpPr>
        <p:spPr>
          <a:xfrm>
            <a:off x="548428" y="2256880"/>
            <a:ext cx="1994747" cy="17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27" tIns="29027" rIns="29027" bIns="29027" anchor="t" anchorCtr="0">
            <a:spAutoFit/>
          </a:bodyPr>
          <a:lstStyle/>
          <a:p>
            <a:pPr marL="145150" indent="-145150">
              <a:lnSpc>
                <a:spcPct val="15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●"/>
            </a:pPr>
            <a:r>
              <a:rPr lang="en-GB" sz="1143" b="1" dirty="0">
                <a:solidFill>
                  <a:srgbClr val="5219FF"/>
                </a:solidFill>
              </a:rPr>
              <a:t>Hierarchical Architecture</a:t>
            </a:r>
          </a:p>
          <a:p>
            <a:pPr marL="145150" indent="-145150">
              <a:lnSpc>
                <a:spcPct val="150000"/>
              </a:lnSpc>
              <a:spcBef>
                <a:spcPts val="317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●"/>
            </a:pPr>
            <a:r>
              <a:rPr lang="en-GB" sz="1143" b="1" dirty="0">
                <a:solidFill>
                  <a:srgbClr val="5219FF"/>
                </a:solidFill>
              </a:rPr>
              <a:t>Task Planning and Decomposition</a:t>
            </a:r>
          </a:p>
          <a:p>
            <a:pPr marL="145150" indent="-145150">
              <a:lnSpc>
                <a:spcPct val="150000"/>
              </a:lnSpc>
              <a:spcBef>
                <a:spcPts val="317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●"/>
            </a:pPr>
            <a:r>
              <a:rPr lang="en-GB" sz="1143" b="1" dirty="0">
                <a:solidFill>
                  <a:srgbClr val="5219FF"/>
                </a:solidFill>
              </a:rPr>
              <a:t>Task Channel Communication</a:t>
            </a:r>
          </a:p>
          <a:p>
            <a:pPr marL="145150" indent="-145150">
              <a:lnSpc>
                <a:spcPct val="150000"/>
              </a:lnSpc>
              <a:spcBef>
                <a:spcPts val="317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●"/>
            </a:pPr>
            <a:r>
              <a:rPr lang="en-GB" sz="1143" b="1" dirty="0">
                <a:solidFill>
                  <a:srgbClr val="5219FF"/>
                </a:solidFill>
              </a:rPr>
              <a:t>Robust Failure Handling</a:t>
            </a:r>
          </a:p>
        </p:txBody>
      </p:sp>
      <p:pic>
        <p:nvPicPr>
          <p:cNvPr id="26" name="Google Shape;278;p40">
            <a:extLst>
              <a:ext uri="{FF2B5EF4-FFF2-40B4-BE49-F238E27FC236}">
                <a16:creationId xmlns:a16="http://schemas.microsoft.com/office/drawing/2014/main" id="{C264B822-3EB0-BD44-9D6E-9C005E8A6D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1051" y="1143489"/>
            <a:ext cx="5408519" cy="3116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533;p39">
            <a:extLst>
              <a:ext uri="{FF2B5EF4-FFF2-40B4-BE49-F238E27FC236}">
                <a16:creationId xmlns:a16="http://schemas.microsoft.com/office/drawing/2014/main" id="{E3B2022C-C1C5-E74D-8415-BF8A504839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1187" y="306282"/>
            <a:ext cx="1510897" cy="30904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342;p12">
            <a:extLst>
              <a:ext uri="{FF2B5EF4-FFF2-40B4-BE49-F238E27FC236}">
                <a16:creationId xmlns:a16="http://schemas.microsoft.com/office/drawing/2014/main" id="{A092E2E8-BFE1-8B4D-B4D2-928BE55845E8}"/>
              </a:ext>
            </a:extLst>
          </p:cNvPr>
          <p:cNvSpPr txBox="1"/>
          <p:nvPr/>
        </p:nvSpPr>
        <p:spPr>
          <a:xfrm>
            <a:off x="251916" y="153045"/>
            <a:ext cx="65919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521AFF"/>
                </a:solidFill>
                <a:latin typeface="Palatino"/>
                <a:ea typeface="Palatino"/>
                <a:cs typeface="Palatino"/>
                <a:sym typeface="Palatino"/>
              </a:rPr>
              <a:t>CAMEL</a:t>
            </a:r>
            <a:endParaRPr sz="2800" b="1" i="0" u="none" strike="noStrike" cap="none" dirty="0">
              <a:solidFill>
                <a:srgbClr val="521A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4255526096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2282</TotalTime>
  <Words>189</Words>
  <Application>Microsoft Macintosh PowerPoint</Application>
  <PresentationFormat>On-screen Show 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Palatino</vt:lpstr>
      <vt:lpstr>Roboto</vt:lpstr>
      <vt:lpstr>Arial</vt:lpstr>
      <vt:lpstr>Material</vt:lpstr>
      <vt:lpstr>Building the Future of Multi-agent Workforce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the Scaling Laws of Agents</dc:title>
  <cp:lastModifiedBy>范文</cp:lastModifiedBy>
  <cp:revision>57</cp:revision>
  <dcterms:modified xsi:type="dcterms:W3CDTF">2025-09-17T15:18:46Z</dcterms:modified>
</cp:coreProperties>
</file>